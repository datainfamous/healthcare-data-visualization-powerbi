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864"/>
    <a:srgbClr val="2E75B6"/>
    <a:srgbClr val="9DC3E6"/>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C97B5-A6CC-4DF1-B2D9-FFE80194F217}" v="26" dt="2026-04-07T18:34:23.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81" d="100"/>
          <a:sy n="81" d="100"/>
        </p:scale>
        <p:origin x="96" y="4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yn Wilson" userId="d4efb486f2070e4d" providerId="LiveId" clId="{EF266292-1F22-4709-B646-9AA5E72ECC2D}"/>
    <pc:docChg chg="custSel addSld modSld">
      <pc:chgData name="Benjamyn Wilson" userId="d4efb486f2070e4d" providerId="LiveId" clId="{EF266292-1F22-4709-B646-9AA5E72ECC2D}" dt="2026-04-07T18:36:27.482" v="78" actId="12"/>
      <pc:docMkLst>
        <pc:docMk/>
      </pc:docMkLst>
      <pc:sldChg chg="modSp mod">
        <pc:chgData name="Benjamyn Wilson" userId="d4efb486f2070e4d" providerId="LiveId" clId="{EF266292-1F22-4709-B646-9AA5E72ECC2D}" dt="2026-04-07T18:33:08.826" v="57" actId="14861"/>
        <pc:sldMkLst>
          <pc:docMk/>
          <pc:sldMk cId="1409139723" sldId="265"/>
        </pc:sldMkLst>
        <pc:spChg chg="mod">
          <ac:chgData name="Benjamyn Wilson" userId="d4efb486f2070e4d" providerId="LiveId" clId="{EF266292-1F22-4709-B646-9AA5E72ECC2D}" dt="2026-04-07T18:33:08.826" v="57" actId="14861"/>
          <ac:spMkLst>
            <pc:docMk/>
            <pc:sldMk cId="1409139723" sldId="265"/>
            <ac:spMk id="4" creationId="{3C423F4D-34BE-771B-D1B5-6265633D1AB5}"/>
          </ac:spMkLst>
        </pc:spChg>
      </pc:sldChg>
      <pc:sldChg chg="delSp modSp new mod setBg">
        <pc:chgData name="Benjamyn Wilson" userId="d4efb486f2070e4d" providerId="LiveId" clId="{EF266292-1F22-4709-B646-9AA5E72ECC2D}" dt="2026-04-07T18:36:27.482" v="78" actId="12"/>
        <pc:sldMkLst>
          <pc:docMk/>
          <pc:sldMk cId="999711852" sldId="266"/>
        </pc:sldMkLst>
        <pc:spChg chg="mod">
          <ac:chgData name="Benjamyn Wilson" userId="d4efb486f2070e4d" providerId="LiveId" clId="{EF266292-1F22-4709-B646-9AA5E72ECC2D}" dt="2026-04-07T18:32:15.020" v="54" actId="207"/>
          <ac:spMkLst>
            <pc:docMk/>
            <pc:sldMk cId="999711852" sldId="266"/>
            <ac:spMk id="2" creationId="{7D170EFA-EBA8-982C-135E-9F8312E26A60}"/>
          </ac:spMkLst>
        </pc:spChg>
        <pc:spChg chg="del mod">
          <ac:chgData name="Benjamyn Wilson" userId="d4efb486f2070e4d" providerId="LiveId" clId="{EF266292-1F22-4709-B646-9AA5E72ECC2D}" dt="2026-04-07T18:30:07.491" v="8" actId="478"/>
          <ac:spMkLst>
            <pc:docMk/>
            <pc:sldMk cId="999711852" sldId="266"/>
            <ac:spMk id="3" creationId="{70F6327B-E75E-7CE5-8501-B7BC58FDAD0C}"/>
          </ac:spMkLst>
        </pc:spChg>
        <pc:spChg chg="mod">
          <ac:chgData name="Benjamyn Wilson" userId="d4efb486f2070e4d" providerId="LiveId" clId="{EF266292-1F22-4709-B646-9AA5E72ECC2D}" dt="2026-04-07T18:36:27.482" v="78" actId="12"/>
          <ac:spMkLst>
            <pc:docMk/>
            <pc:sldMk cId="999711852" sldId="266"/>
            <ac:spMk id="4" creationId="{EF2E8A8B-81DF-CC68-48C2-1881E23F15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95792-94F7-4CE9-9D20-EC78DF8D4A0E}"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B09CD-07AC-4813-A052-DC8D4FBDC61E}" type="slidenum">
              <a:rPr lang="en-US" smtClean="0"/>
              <a:t>‹#›</a:t>
            </a:fld>
            <a:endParaRPr lang="en-US"/>
          </a:p>
        </p:txBody>
      </p:sp>
    </p:spTree>
    <p:extLst>
      <p:ext uri="{BB962C8B-B14F-4D97-AF65-F5344CB8AC3E}">
        <p14:creationId xmlns:p14="http://schemas.microsoft.com/office/powerpoint/2010/main" val="3679047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Benjamyn Wilson, and today I am presenting an analysis of patient experience survey data collected from this medical practice during June 2024. One hundred patients participated across three insurance categories and four visit types. The data reveals critical patterns in patient satisfaction that directly impact on the quality of care the practice delivers. Today I will walk you through eight visualizations, two interactive dashboards, and conclude with data-driven recommendations the practice can implement immediately. The live interactive dashboard is available by clicking the View in Power BI link on this slide.</a:t>
            </a:r>
          </a:p>
        </p:txBody>
      </p:sp>
      <p:sp>
        <p:nvSpPr>
          <p:cNvPr id="4" name="Slide Number Placeholder 3"/>
          <p:cNvSpPr>
            <a:spLocks noGrp="1"/>
          </p:cNvSpPr>
          <p:nvPr>
            <p:ph type="sldNum" sz="quarter" idx="5"/>
          </p:nvPr>
        </p:nvSpPr>
        <p:spPr/>
        <p:txBody>
          <a:bodyPr/>
          <a:lstStyle/>
          <a:p>
            <a:fld id="{A3BB09CD-07AC-4813-A052-DC8D4FBDC61E}" type="slidenum">
              <a:rPr lang="en-US" smtClean="0"/>
              <a:t>1</a:t>
            </a:fld>
            <a:endParaRPr lang="en-US"/>
          </a:p>
        </p:txBody>
      </p:sp>
    </p:spTree>
    <p:extLst>
      <p:ext uri="{BB962C8B-B14F-4D97-AF65-F5344CB8AC3E}">
        <p14:creationId xmlns:p14="http://schemas.microsoft.com/office/powerpoint/2010/main" val="1388281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sz="1200" kern="1200" dirty="0">
                <a:solidFill>
                  <a:schemeClr val="tx1"/>
                </a:solidFill>
                <a:effectLst/>
                <a:latin typeface="+mn-lt"/>
                <a:ea typeface="+mn-ea"/>
                <a:cs typeface="+mn-cs"/>
              </a:rPr>
              <a:t>This bar chart reveals that New Medical Issues represent the highest volume of patient visits at approximately 28 visits, followed closely by Prescription Refills. Follow-up Appointments and Annual Checkups generate fewer visits, respectively. This distribution has significant staffing implications — the practice should ensure adequate provider availability for new medical issues that require the most time and expertise. The high volume of prescription refills also suggests an opportunity to streamline through online or automated refill systems, which could reduce wait times and free up appointment slots for more complex cases.  </a:t>
            </a:r>
          </a:p>
          <a:p>
            <a:r>
              <a:rPr lang="en-US" sz="1200" kern="1200" dirty="0">
                <a:solidFill>
                  <a:schemeClr val="tx1"/>
                </a:solidFill>
                <a:effectLst/>
                <a:latin typeface="+mn-lt"/>
                <a:ea typeface="+mn-ea"/>
                <a:cs typeface="+mn-cs"/>
              </a:rPr>
              <a:t> </a:t>
            </a:r>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dirty="0"/>
              <a:t>Patient satisfaction scores throughout June 2024 show significant day-to-day variation, ranging from as low as 1.0 to as high as 3.0 on a 5-point scale. The average satisfaction score for the month sits at approximately 2.0, which is concerningly below the midpoint. This volatility suggests that the patient experience is inconsistent — some days patients leave highly satisfied while others leave dissatisfied. The practice should examine what differs on high-scoring versus low-scoring days. Factors such as staffing levels, provider schedules, and patient volume may be contributing to these fluctuations. Addressing the root causes of low-scoring days represents an immediate opportunity to improve overall patient satisfaction.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sz="1200" b="0" kern="1200" dirty="0">
                <a:solidFill>
                  <a:schemeClr val="tx1"/>
                </a:solidFill>
                <a:effectLst/>
                <a:latin typeface="Segoe UI" panose="020B0502040204020203" pitchFamily="34" charset="0"/>
                <a:ea typeface="+mn-ea"/>
                <a:cs typeface="Segoe UI" panose="020B0502040204020203" pitchFamily="34" charset="0"/>
              </a:rPr>
              <a:t>This Pie Chart reveals a striking finding—40% of patients seen at this practice are uninsured, making them the largest single patient group. Public insurance accounts for 32% of patients and private insurance represents 28%. The dominance of uninsured patients has significant financial implications for the practice, as insured patients are less likely to pay in full and more likely to delay care. This data suggests the practice should explore financial assistance programs, sliding-scale payment options, or partnerships with community health organizations to better serve this vulnerable population while maintaining financial sustainability. Understanding the insurance makeup of the patient population is essential for long-term strategic planning  </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dirty="0"/>
              <a:t>This scatter plot reveals a nuanced relationship between wait time and patient satisfaction. Patients who waited less than 20 minutes reported satisfaction scores below 2.0, suggesting that very short visits may leave patients feeling rushed or underserved. Satisfaction peaked at just under 2.3 among patients who waited approximately 25 minutes, indicating an optimal wait time range in which patients feel they received adequate attention. However, as wait times exceeded 30 minutes, satisfaction dropped to 2.0, and patients waiting beyond 35 minutes reported the lowest scores. The downward trending line after the 25 minute peak confirms that excessive wait times negatively impact satisfaction. This finding suggests the practice should target an optimal wait time of approximately 25 minutes — long enough for patients to feel heard and cared for, but short enough to respect their time. Simply minimizing wait time is not the solution — quality of interaction within that time matters equally.</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This tree map visualization shows the average satisfaction scores across three appointment types. Primary Care patients report the highest average satisfaction levels, represented by the largest dark navy rectangle. Specialist Visit patients report slightly lower satisfaction, shown by the medium blue rectangle. Urgent Care patients report the lowest satisfaction scores, highlighted by the red rectangle which immediately signals this as a problem area requiring attention. The size and color differences make it immediately clear that Urgent Care appointments need improvement. The practice should investigate what specific factors contribute to lower satisfaction in urgent care settings. Potential areas to explore include time constraints, complexity of issues, staffing availability, or patient expectations. Implementing targeted improvements in the Urgent Care department could significantly enhance overall practice satisfaction ratings.</a:t>
            </a:r>
            <a:endParaRPr dirty="0">
              <a:latin typeface="Segoe UI" panose="020B0502040204020203" pitchFamily="34" charset="0"/>
              <a:cs typeface="Segoe UI" panose="020B0502040204020203"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Three additional visualizations were generated using Power BI’s Q&amp;A artificial intelligence feature, which allows natural language queries to explore the data. First, Primary Care patients report the highest average satisfaction at approximately 2.0, while Urgent Care patients report the lowest, reinforcing findings from the Tree Map. Second, Prescription Refill visits have the longest average wait times at approximately 35 minutes, significantly higher than New Medical Issues, which average only 22 minutes. Third, provider communication scores are remarkably consistent across all insurance types, averaging approximately 1.8 to 2.0, regardless of whether patients are uninsured, publicly insured, or privately insured. This suggests that while providers communicate consistently across patient groups, there is significant room to improve communication quality overall across the practice.</a:t>
            </a:r>
            <a:endParaRPr dirty="0">
              <a:latin typeface="Segoe UI" panose="020B0502040204020203" pitchFamily="34" charset="0"/>
              <a:cs typeface="Segoe UI" panose="020B0502040204020203"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This dashboard brings together four visualizations that collectively tell the story of how visit patterns and wait times impact patient satisfaction. The bar chart shows New Medical Issues drive the most visits, while the scatter plot confirms that longer wait times correlate with lower satisfaction scores. The Q&amp;A visualization reinforces that Primary Care patients are most satisfied, and the line graph reveals daily satisfaction fluctuations throughout June. To interact with this dashboard in Power BI, click on any bar in the Patient Visits by Reason chart — this will filter all other visualizations to show data only for that visit type, allowing you to explore how a specific reason for visit affects satisfaction trends, wait times, and appointment type satisfaction simultaneously.</a:t>
            </a:r>
            <a:endParaRPr dirty="0">
              <a:latin typeface="Segoe UI" panose="020B0502040204020203" pitchFamily="34" charset="0"/>
              <a:cs typeface="Segoe UI" panose="020B0502040204020203"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This dashboard examines how insurance type and appointment category influence the patient experience. The pie chart immediately reveals that 40% of patients are uninsured — the largest single patient group. The tree map confirms that Urgent Care patients report the lowest satisfaction, highlighted in red. Provider communication scores remain consistent across insurance types, suggesting the issue is not provider behavior but rather systemic factors. The wait time chart shows Prescription Refills have the longest waits regardless of insurance type. To interact with this dashboard in Power BI, click on any insurance type slice in the pie chart — this will filter all other visualizations to show data only for that insurance group, revealing how insurance status affects wait times, appointment choices, and satisfaction scores.</a:t>
            </a:r>
            <a:endParaRPr dirty="0">
              <a:latin typeface="Segoe UI" panose="020B0502040204020203" pitchFamily="34" charset="0"/>
              <a:cs typeface="Segoe UI" panose="020B0502040204020203"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data presented, this practice has five clear opportunities to improve patient satisfaction. First, our scatter plot reveals that satisfaction peaks at approximately 25 minutes — the practice should target this as the optimal appointment duration. Second, prescription refills represent the longest wait times at 35 minutes — implementing online or automated refill systems could significantly reduce this. Third, with 40% of patients uninsured, exploring sliding scale payment options and community health partnerships is essential. Fourth, Urgent Care patients report the lowest satisfaction scores and warrant immediate targeted improvement. Fifth, provider communication scores averaging only 1.8 to 2.0 across all insurance types suggest significant room for improvement through staff training.</a:t>
            </a:r>
          </a:p>
        </p:txBody>
      </p:sp>
      <p:sp>
        <p:nvSpPr>
          <p:cNvPr id="4" name="Slide Number Placeholder 3"/>
          <p:cNvSpPr>
            <a:spLocks noGrp="1"/>
          </p:cNvSpPr>
          <p:nvPr>
            <p:ph type="sldNum" sz="quarter" idx="5"/>
          </p:nvPr>
        </p:nvSpPr>
        <p:spPr/>
        <p:txBody>
          <a:bodyPr/>
          <a:lstStyle/>
          <a:p>
            <a:fld id="{A3BB09CD-07AC-4813-A052-DC8D4FBDC61E}" type="slidenum">
              <a:rPr lang="en-US" smtClean="0"/>
              <a:t>10</a:t>
            </a:fld>
            <a:endParaRPr lang="en-US"/>
          </a:p>
        </p:txBody>
      </p:sp>
    </p:spTree>
    <p:extLst>
      <p:ext uri="{BB962C8B-B14F-4D97-AF65-F5344CB8AC3E}">
        <p14:creationId xmlns:p14="http://schemas.microsoft.com/office/powerpoint/2010/main" val="390833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4/7/2026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groups/me/reports/6ad32c85-c7b7-4138-aa90-50dd343ff9f9/?pbi_source=PowerPoint"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docs.microsoft.com/en-us/power-bi/" TargetMode="External"/><Relationship Id="rId2" Type="http://schemas.openxmlformats.org/officeDocument/2006/relationships/hyperlink" Target="https://alum.mit.edu/best-practices-powerpoint-presentations"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12" name="Title 1"/>
          <p:cNvSpPr txBox="1">
            <a:spLocks noGrp="1"/>
          </p:cNvSpPr>
          <p:nvPr>
            <p:ph type="title" idx="4294967295"/>
          </p:nvPr>
        </p:nvSpPr>
        <p:spPr>
          <a:xfrm>
            <a:off x="1012464" y="2597408"/>
            <a:ext cx="9200315"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900" b="1" i="0" u="none" strike="noStrike" kern="1200" cap="none" spc="0" normalizeH="0" baseline="0" noProof="0" dirty="0">
                <a:ln>
                  <a:noFill/>
                </a:ln>
                <a:solidFill>
                  <a:schemeClr val="bg1"/>
                </a:solidFill>
                <a:effectLst/>
                <a:uLnTx/>
                <a:uFillTx/>
                <a:latin typeface="Segoe UI Light" charset="0"/>
                <a:ea typeface="Segoe UI Light" charset="0"/>
                <a:cs typeface="Segoe UI Light" charset="0"/>
              </a:rPr>
              <a:t>Patient Experience Survey</a:t>
            </a:r>
            <a:r>
              <a:rPr lang="en-US" sz="4900" b="1" dirty="0">
                <a:solidFill>
                  <a:schemeClr val="bg1"/>
                </a:solidFill>
              </a:rPr>
              <a:t> </a:t>
            </a:r>
            <a:r>
              <a:rPr kumimoji="0" lang="en-US" sz="4900" b="1" i="0" u="none" strike="noStrike" kern="1200" cap="none" spc="0" normalizeH="0" baseline="0" noProof="0" dirty="0">
                <a:ln>
                  <a:noFill/>
                </a:ln>
                <a:solidFill>
                  <a:schemeClr val="bg1"/>
                </a:solidFill>
                <a:effectLst/>
                <a:uLnTx/>
                <a:uFillTx/>
                <a:latin typeface="Segoe UI Light" charset="0"/>
                <a:ea typeface="Segoe UI Light" charset="0"/>
                <a:cs typeface="Segoe UI Light" charset="0"/>
              </a:rPr>
              <a:t>Analysis</a:t>
            </a:r>
            <a:br>
              <a:rPr kumimoji="0" lang="en-US" sz="4400" b="0" i="0" u="none" strike="noStrike" kern="1200" cap="none" spc="0" normalizeH="0" baseline="0" noProof="0" dirty="0">
                <a:ln>
                  <a:noFill/>
                </a:ln>
                <a:solidFill>
                  <a:schemeClr val="bg1"/>
                </a:solidFill>
                <a:effectLst/>
                <a:uLnTx/>
                <a:uFillTx/>
                <a:latin typeface="Segoe UI Light" charset="0"/>
                <a:ea typeface="Segoe UI Light" charset="0"/>
                <a:cs typeface="Segoe UI Light" charset="0"/>
              </a:rPr>
            </a:br>
            <a:endParaRPr kumimoji="0" lang="en-US" sz="4400" b="0" i="0" u="none" strike="noStrike" kern="1200" cap="none" spc="0" normalizeH="0" baseline="0" noProof="0" dirty="0">
              <a:ln>
                <a:noFill/>
              </a:ln>
              <a:solidFill>
                <a:schemeClr val="bg1"/>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236518" y="5384840"/>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236518" y="6253470"/>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4/7/2026 5:16:52 PM UTC</a:t>
            </a:r>
          </a:p>
        </p:txBody>
      </p:sp>
      <p:sp>
        <p:nvSpPr>
          <p:cNvPr id="10" name="TextBox 9"/>
          <p:cNvSpPr txBox="1"/>
          <p:nvPr/>
        </p:nvSpPr>
        <p:spPr>
          <a:xfrm>
            <a:off x="236518" y="5761224"/>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4/7/2026 4:34:28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7875" y="5384840"/>
            <a:ext cx="162027" cy="153025"/>
          </a:xfrm>
          <a:prstGeom prst="rect">
            <a:avLst/>
          </a:prstGeom>
        </p:spPr>
      </p:pic>
      <p:sp>
        <p:nvSpPr>
          <p:cNvPr id="2" name="TextBox 1">
            <a:extLst>
              <a:ext uri="{FF2B5EF4-FFF2-40B4-BE49-F238E27FC236}">
                <a16:creationId xmlns:a16="http://schemas.microsoft.com/office/drawing/2014/main" id="{014506FA-82D9-1ED9-75C2-CFB50B59E7AA}"/>
              </a:ext>
            </a:extLst>
          </p:cNvPr>
          <p:cNvSpPr txBox="1"/>
          <p:nvPr/>
        </p:nvSpPr>
        <p:spPr>
          <a:xfrm>
            <a:off x="278512" y="3569057"/>
            <a:ext cx="2942779" cy="1754326"/>
          </a:xfrm>
          <a:prstGeom prst="rect">
            <a:avLst/>
          </a:prstGeom>
          <a:noFill/>
        </p:spPr>
        <p:txBody>
          <a:bodyPr wrap="square" rtlCol="0">
            <a:spAutoFit/>
          </a:bodyPr>
          <a:lstStyle/>
          <a:p>
            <a:r>
              <a:rPr lang="en-US" dirty="0">
                <a:solidFill>
                  <a:schemeClr val="bg1"/>
                </a:solidFill>
                <a:latin typeface="Segoe UI" panose="020B0502040204020203" pitchFamily="34" charset="0"/>
                <a:cs typeface="Segoe UI" panose="020B0502040204020203" pitchFamily="34" charset="0"/>
              </a:rPr>
              <a:t>Benjamyn Wilson</a:t>
            </a:r>
          </a:p>
          <a:p>
            <a:endParaRPr lang="en-US" dirty="0">
              <a:solidFill>
                <a:schemeClr val="bg1"/>
              </a:solidFill>
              <a:latin typeface="Segoe UI" panose="020B0502040204020203" pitchFamily="34" charset="0"/>
              <a:cs typeface="Segoe UI" panose="020B0502040204020203" pitchFamily="34" charset="0"/>
            </a:endParaRPr>
          </a:p>
          <a:p>
            <a:r>
              <a:rPr lang="en-US" dirty="0">
                <a:solidFill>
                  <a:schemeClr val="bg1"/>
                </a:solidFill>
                <a:latin typeface="Segoe UI" panose="020B0502040204020203" pitchFamily="34" charset="0"/>
                <a:cs typeface="Segoe UI" panose="020B0502040204020203" pitchFamily="34" charset="0"/>
              </a:rPr>
              <a:t>Professor: Michael Dean</a:t>
            </a:r>
          </a:p>
          <a:p>
            <a:endParaRPr lang="en-US" dirty="0">
              <a:solidFill>
                <a:schemeClr val="bg1"/>
              </a:solidFill>
              <a:latin typeface="Segoe UI" panose="020B0502040204020203" pitchFamily="34" charset="0"/>
              <a:cs typeface="Segoe UI" panose="020B0502040204020203" pitchFamily="34" charset="0"/>
            </a:endParaRPr>
          </a:p>
          <a:p>
            <a:r>
              <a:rPr lang="en-US" dirty="0">
                <a:solidFill>
                  <a:schemeClr val="bg1"/>
                </a:solidFill>
                <a:latin typeface="Segoe UI" panose="020B0502040204020203" pitchFamily="34" charset="0"/>
                <a:cs typeface="Segoe UI" panose="020B0502040204020203" pitchFamily="34" charset="0"/>
              </a:rPr>
              <a:t>04/07/2026</a:t>
            </a:r>
          </a:p>
          <a:p>
            <a:endParaRPr lang="en-US" dirty="0">
              <a:solidFill>
                <a:schemeClr val="bg1"/>
              </a:solidFill>
              <a:latin typeface="Segoe UI" panose="020B0502040204020203" pitchFamily="34" charset="0"/>
              <a:cs typeface="Segoe UI" panose="020B0502040204020203" pitchFamily="34" charset="0"/>
            </a:endParaRPr>
          </a:p>
        </p:txBody>
      </p:sp>
      <p:cxnSp>
        <p:nvCxnSpPr>
          <p:cNvPr id="4" name="Straight Connector 3">
            <a:extLst>
              <a:ext uri="{FF2B5EF4-FFF2-40B4-BE49-F238E27FC236}">
                <a16:creationId xmlns:a16="http://schemas.microsoft.com/office/drawing/2014/main" id="{898A9E12-5F0B-3AD6-8E90-40F6A3984FFE}"/>
              </a:ext>
            </a:extLst>
          </p:cNvPr>
          <p:cNvCxnSpPr/>
          <p:nvPr/>
        </p:nvCxnSpPr>
        <p:spPr>
          <a:xfrm>
            <a:off x="296883" y="2897445"/>
            <a:ext cx="8562109" cy="0"/>
          </a:xfrm>
          <a:prstGeom prst="line">
            <a:avLst/>
          </a:prstGeom>
          <a:ln>
            <a:solidFill>
              <a:srgbClr val="9DC3E6"/>
            </a:solidFill>
          </a:ln>
        </p:spPr>
        <p:style>
          <a:lnRef idx="1">
            <a:schemeClr val="accent1"/>
          </a:lnRef>
          <a:fillRef idx="0">
            <a:schemeClr val="accent1"/>
          </a:fillRef>
          <a:effectRef idx="0">
            <a:schemeClr val="accent1"/>
          </a:effectRef>
          <a:fontRef idx="minor">
            <a:schemeClr val="tx1"/>
          </a:fontRef>
        </p:style>
      </p:cxnSp>
      <p:pic>
        <p:nvPicPr>
          <p:cNvPr id="6" name="Graphic 5" descr="Stethoscope outline">
            <a:extLst>
              <a:ext uri="{FF2B5EF4-FFF2-40B4-BE49-F238E27FC236}">
                <a16:creationId xmlns:a16="http://schemas.microsoft.com/office/drawing/2014/main" id="{29894030-D69E-3BC1-B4BE-A03B6599D8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8671" y="219075"/>
            <a:ext cx="1787856" cy="1787856"/>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atient Visits by Reason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Bar chart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verage Patient Satisfaction by Date of Visit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Line Graph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atient Distribution by Insurance Type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Pie Chart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Wait Time vs. Average Patient Satisfaction ,textbox. Please refer to the notes on this slide for details">
            <a:hlinkClick r:id="rId3"/>
          </p:cNvPr>
          <p:cNvPicPr>
            <a:picLocks noChangeAspect="1"/>
          </p:cNvPicPr>
          <p:nvPr/>
        </p:nvPicPr>
        <p:blipFill>
          <a:blip r:embed="rId4"/>
          <a:stretch>
            <a:fillRect/>
          </a:stretch>
        </p:blipFill>
        <p:spPr>
          <a:xfrm>
            <a:off x="-156789" y="-43474"/>
            <a:ext cx="12348789" cy="7045268"/>
          </a:xfrm>
          <a:prstGeom prst="rect">
            <a:avLst/>
          </a:prstGeom>
          <a:noFill/>
        </p:spPr>
      </p:pic>
      <p:sp>
        <p:nvSpPr>
          <p:cNvPr id="4" name="Title" hidden="1"/>
          <p:cNvSpPr>
            <a:spLocks noGrp="1"/>
          </p:cNvSpPr>
          <p:nvPr>
            <p:ph type="title"/>
          </p:nvPr>
        </p:nvSpPr>
        <p:spPr/>
        <p:txBody>
          <a:bodyPr/>
          <a:lstStyle/>
          <a:p>
            <a:r>
              <a:t>Scatterplot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verage Satisfaction by Appointment Type ,textbox. Please refer to the notes on this slide for details">
            <a:hlinkClick r:id="rId3"/>
          </p:cNvPr>
          <p:cNvPicPr>
            <a:picLocks noChangeAspect="1"/>
          </p:cNvPicPr>
          <p:nvPr/>
        </p:nvPicPr>
        <p:blipFill>
          <a:blip r:embed="rId4"/>
          <a:stretch>
            <a:fillRect/>
          </a:stretch>
        </p:blipFill>
        <p:spPr>
          <a:xfrm>
            <a:off x="0" y="0"/>
            <a:ext cx="12340646" cy="7040622"/>
          </a:xfrm>
          <a:prstGeom prst="rect">
            <a:avLst/>
          </a:prstGeom>
          <a:noFill/>
        </p:spPr>
      </p:pic>
      <p:sp>
        <p:nvSpPr>
          <p:cNvPr id="4" name="Title" hidden="1"/>
          <p:cNvSpPr>
            <a:spLocks noGrp="1"/>
          </p:cNvSpPr>
          <p:nvPr>
            <p:ph type="title"/>
          </p:nvPr>
        </p:nvSpPr>
        <p:spPr/>
        <p:txBody>
          <a:bodyPr/>
          <a:lstStyle/>
          <a:p>
            <a:r>
              <a:t>Tree Map</a:t>
            </a:r>
          </a:p>
        </p:txBody>
      </p:sp>
      <p:sp>
        <p:nvSpPr>
          <p:cNvPr id="2" name="TextBox 1">
            <a:extLst>
              <a:ext uri="{FF2B5EF4-FFF2-40B4-BE49-F238E27FC236}">
                <a16:creationId xmlns:a16="http://schemas.microsoft.com/office/drawing/2014/main" id="{CA23751C-66A6-99AF-3A78-DEEE93C77525}"/>
              </a:ext>
            </a:extLst>
          </p:cNvPr>
          <p:cNvSpPr txBox="1"/>
          <p:nvPr/>
        </p:nvSpPr>
        <p:spPr>
          <a:xfrm>
            <a:off x="4548249" y="457200"/>
            <a:ext cx="3241964" cy="246221"/>
          </a:xfrm>
          <a:prstGeom prst="rect">
            <a:avLst/>
          </a:prstGeom>
          <a:solidFill>
            <a:srgbClr val="1F3864"/>
          </a:solidFill>
        </p:spPr>
        <p:txBody>
          <a:bodyPr wrap="square" rtlCol="0">
            <a:spAutoFit/>
          </a:bodyPr>
          <a:lstStyle/>
          <a:p>
            <a:r>
              <a:rPr lang="en-US" sz="1000" i="1" dirty="0">
                <a:solidFill>
                  <a:schemeClr val="bg1"/>
                </a:solidFill>
                <a:latin typeface="Segoe UI" panose="020B0502040204020203" pitchFamily="34" charset="0"/>
                <a:cs typeface="Segoe UI" panose="020B0502040204020203" pitchFamily="34" charset="0"/>
              </a:rPr>
              <a:t>Patient Experience Survey Analysis | June 2024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rimary Care Patients are Most Satisfied ,clusteredBarChart ,clusteredBarChart ,textbox. Please refer to the notes on this slide for details">
            <a:hlinkClick r:id="rId3"/>
          </p:cNvPr>
          <p:cNvPicPr>
            <a:picLocks noChangeAspect="1"/>
          </p:cNvPicPr>
          <p:nvPr/>
        </p:nvPicPr>
        <p:blipFill>
          <a:blip r:embed="rId4"/>
          <a:srcRect t="11054"/>
          <a:stretch>
            <a:fillRect/>
          </a:stretch>
        </p:blipFill>
        <p:spPr>
          <a:xfrm>
            <a:off x="2" y="615552"/>
            <a:ext cx="12191998" cy="6355263"/>
          </a:xfrm>
          <a:prstGeom prst="rect">
            <a:avLst/>
          </a:prstGeom>
          <a:noFill/>
        </p:spPr>
      </p:pic>
      <p:sp>
        <p:nvSpPr>
          <p:cNvPr id="4" name="Title" hidden="1"/>
          <p:cNvSpPr>
            <a:spLocks noGrp="1"/>
          </p:cNvSpPr>
          <p:nvPr>
            <p:ph type="title"/>
          </p:nvPr>
        </p:nvSpPr>
        <p:spPr/>
        <p:txBody>
          <a:bodyPr/>
          <a:lstStyle/>
          <a:p>
            <a:r>
              <a:t>Q &amp; A</a:t>
            </a:r>
          </a:p>
        </p:txBody>
      </p:sp>
      <p:sp>
        <p:nvSpPr>
          <p:cNvPr id="2" name="TextBox 1">
            <a:extLst>
              <a:ext uri="{FF2B5EF4-FFF2-40B4-BE49-F238E27FC236}">
                <a16:creationId xmlns:a16="http://schemas.microsoft.com/office/drawing/2014/main" id="{2D5C8766-BACB-FAA6-5953-0F51DD359118}"/>
              </a:ext>
            </a:extLst>
          </p:cNvPr>
          <p:cNvSpPr txBox="1"/>
          <p:nvPr/>
        </p:nvSpPr>
        <p:spPr>
          <a:xfrm>
            <a:off x="0" y="0"/>
            <a:ext cx="12191999" cy="615553"/>
          </a:xfrm>
          <a:prstGeom prst="rect">
            <a:avLst/>
          </a:prstGeom>
          <a:solidFill>
            <a:srgbClr val="1F3864"/>
          </a:solidFill>
        </p:spPr>
        <p:txBody>
          <a:bodyPr wrap="square" rtlCol="0">
            <a:spAutoFit/>
          </a:bodyPr>
          <a:lstStyle/>
          <a:p>
            <a:pPr algn="ctr"/>
            <a:r>
              <a:rPr lang="en-US" sz="2400" i="1" dirty="0">
                <a:solidFill>
                  <a:schemeClr val="bg1"/>
                </a:solidFill>
                <a:latin typeface="Segoe UI" panose="020B0502040204020203" pitchFamily="34" charset="0"/>
                <a:cs typeface="Segoe UI" panose="020B0502040204020203" pitchFamily="34" charset="0"/>
              </a:rPr>
              <a:t>Three Additional Patient Insights</a:t>
            </a:r>
          </a:p>
          <a:p>
            <a:pPr algn="ctr"/>
            <a:r>
              <a:rPr lang="en-US" sz="1000" i="1" dirty="0">
                <a:solidFill>
                  <a:schemeClr val="bg1"/>
                </a:solidFill>
                <a:latin typeface="Segoe UI" panose="020B0502040204020203" pitchFamily="34" charset="0"/>
                <a:cs typeface="Segoe UI" panose="020B0502040204020203" pitchFamily="34" charset="0"/>
              </a:rPr>
              <a:t>Patient Experience Survey Analysis | June 2024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atient Visits by Reason  ,Wait Time vs. Average Patient Satisfaction ,Primary Care Patients are Most Satisfied ,Average Patient Satisfaction by Date of Visit ,textbox ,textbox. Please refer to the notes on this slide for details">
            <a:hlinkClick r:id="rId3"/>
          </p:cNvPr>
          <p:cNvPicPr>
            <a:picLocks noChangeAspect="1"/>
          </p:cNvPicPr>
          <p:nvPr/>
        </p:nvPicPr>
        <p:blipFill>
          <a:blip r:embed="rId4"/>
          <a:stretch>
            <a:fillRect/>
          </a:stretch>
        </p:blipFill>
        <p:spPr>
          <a:xfrm>
            <a:off x="0" y="-1"/>
            <a:ext cx="12192000" cy="6987209"/>
          </a:xfrm>
          <a:prstGeom prst="rect">
            <a:avLst/>
          </a:prstGeom>
          <a:noFill/>
        </p:spPr>
      </p:pic>
      <p:sp>
        <p:nvSpPr>
          <p:cNvPr id="4" name="Title" hidden="1"/>
          <p:cNvSpPr>
            <a:spLocks noGrp="1"/>
          </p:cNvSpPr>
          <p:nvPr>
            <p:ph type="title"/>
          </p:nvPr>
        </p:nvSpPr>
        <p:spPr/>
        <p:txBody>
          <a:bodyPr/>
          <a:lstStyle/>
          <a:p>
            <a:r>
              <a:t>Dashboard Panel 1</a:t>
            </a:r>
          </a:p>
        </p:txBody>
      </p:sp>
      <p:sp>
        <p:nvSpPr>
          <p:cNvPr id="2" name="TextBox 1">
            <a:extLst>
              <a:ext uri="{FF2B5EF4-FFF2-40B4-BE49-F238E27FC236}">
                <a16:creationId xmlns:a16="http://schemas.microsoft.com/office/drawing/2014/main" id="{1143461F-C19E-9890-442D-658CA6D981E3}"/>
              </a:ext>
            </a:extLst>
          </p:cNvPr>
          <p:cNvSpPr txBox="1"/>
          <p:nvPr/>
        </p:nvSpPr>
        <p:spPr>
          <a:xfrm>
            <a:off x="4548249" y="457200"/>
            <a:ext cx="3040083" cy="246221"/>
          </a:xfrm>
          <a:prstGeom prst="rect">
            <a:avLst/>
          </a:prstGeom>
          <a:solidFill>
            <a:srgbClr val="1F3864"/>
          </a:solidFill>
        </p:spPr>
        <p:txBody>
          <a:bodyPr wrap="square" rtlCol="0">
            <a:spAutoFit/>
          </a:bodyPr>
          <a:lstStyle/>
          <a:p>
            <a:r>
              <a:rPr lang="en-US" sz="1000" i="1" dirty="0">
                <a:solidFill>
                  <a:schemeClr val="bg1"/>
                </a:solidFill>
                <a:latin typeface="Segoe UI" panose="020B0502040204020203" pitchFamily="34" charset="0"/>
                <a:cs typeface="Segoe UI" panose="020B0502040204020203" pitchFamily="34" charset="0"/>
              </a:rPr>
              <a:t>Patient Experience Survey Analysis | June 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atient Distribution by Insurance Type ,Average Satisfaction by Appointment Type ,clusteredBarChart ,clusteredBarChart ,textbox ,textbox. Please refer to the notes on this slide for details">
            <a:hlinkClick r:id="rId3"/>
          </p:cNvPr>
          <p:cNvPicPr>
            <a:picLocks noChangeAspect="1"/>
          </p:cNvPicPr>
          <p:nvPr/>
        </p:nvPicPr>
        <p:blipFill>
          <a:blip r:embed="rId4"/>
          <a:stretch>
            <a:fillRect/>
          </a:stretch>
        </p:blipFill>
        <p:spPr>
          <a:xfrm>
            <a:off x="0" y="0"/>
            <a:ext cx="12192000" cy="6967330"/>
          </a:xfrm>
          <a:prstGeom prst="rect">
            <a:avLst/>
          </a:prstGeom>
          <a:noFill/>
        </p:spPr>
      </p:pic>
      <p:sp>
        <p:nvSpPr>
          <p:cNvPr id="4" name="Title" hidden="1"/>
          <p:cNvSpPr>
            <a:spLocks noGrp="1"/>
          </p:cNvSpPr>
          <p:nvPr>
            <p:ph type="title"/>
          </p:nvPr>
        </p:nvSpPr>
        <p:spPr/>
        <p:txBody>
          <a:bodyPr/>
          <a:lstStyle/>
          <a:p>
            <a:r>
              <a:t>Dashboard Panel 2</a:t>
            </a:r>
          </a:p>
        </p:txBody>
      </p:sp>
      <p:sp>
        <p:nvSpPr>
          <p:cNvPr id="2" name="TextBox 1">
            <a:extLst>
              <a:ext uri="{FF2B5EF4-FFF2-40B4-BE49-F238E27FC236}">
                <a16:creationId xmlns:a16="http://schemas.microsoft.com/office/drawing/2014/main" id="{571F527F-B490-2E45-8A0B-65B2A230ED9F}"/>
              </a:ext>
            </a:extLst>
          </p:cNvPr>
          <p:cNvSpPr txBox="1"/>
          <p:nvPr/>
        </p:nvSpPr>
        <p:spPr>
          <a:xfrm>
            <a:off x="4548249" y="457200"/>
            <a:ext cx="3040083" cy="246221"/>
          </a:xfrm>
          <a:prstGeom prst="rect">
            <a:avLst/>
          </a:prstGeom>
          <a:solidFill>
            <a:srgbClr val="1F3864"/>
          </a:solidFill>
        </p:spPr>
        <p:txBody>
          <a:bodyPr wrap="square" rtlCol="0">
            <a:spAutoFit/>
          </a:bodyPr>
          <a:lstStyle/>
          <a:p>
            <a:r>
              <a:rPr lang="en-US" sz="1000" i="1" dirty="0">
                <a:solidFill>
                  <a:schemeClr val="bg1"/>
                </a:solidFill>
                <a:latin typeface="Segoe UI" panose="020B0502040204020203" pitchFamily="34" charset="0"/>
                <a:cs typeface="Segoe UI" panose="020B0502040204020203" pitchFamily="34" charset="0"/>
              </a:rPr>
              <a:t>Patient Experience Survey Analysis | June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E75B6">
            <a:alpha val="49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AAF0-EA58-48D1-F78C-76F7CF64A6F7}"/>
              </a:ext>
            </a:extLst>
          </p:cNvPr>
          <p:cNvSpPr>
            <a:spLocks noGrp="1"/>
          </p:cNvSpPr>
          <p:nvPr>
            <p:ph type="title"/>
          </p:nvPr>
        </p:nvSpPr>
        <p:spPr>
          <a:xfrm>
            <a:off x="0" y="0"/>
            <a:ext cx="12192000" cy="996950"/>
          </a:xfrm>
          <a:solidFill>
            <a:srgbClr val="1F3864"/>
          </a:solidFill>
        </p:spPr>
        <p:txBody>
          <a:bodyPr anchor="ctr">
            <a:normAutofit/>
          </a:bodyPr>
          <a:lstStyle/>
          <a:p>
            <a:pPr algn="ctr"/>
            <a:r>
              <a:rPr lang="en-US" sz="2400" b="1" dirty="0">
                <a:solidFill>
                  <a:schemeClr val="bg1"/>
                </a:solidFill>
                <a:latin typeface="Segoe UI" panose="020B0502040204020203" pitchFamily="34" charset="0"/>
                <a:cs typeface="Segoe UI" panose="020B0502040204020203" pitchFamily="34" charset="0"/>
              </a:rPr>
              <a:t>Data-Driven Recommendations</a:t>
            </a:r>
            <a:br>
              <a:rPr lang="en-US" sz="2400" b="1" dirty="0">
                <a:solidFill>
                  <a:schemeClr val="bg1"/>
                </a:solidFill>
                <a:latin typeface="Segoe UI" panose="020B0502040204020203" pitchFamily="34" charset="0"/>
                <a:cs typeface="Segoe UI" panose="020B0502040204020203" pitchFamily="34" charset="0"/>
              </a:rPr>
            </a:br>
            <a:r>
              <a:rPr lang="en-US" sz="1000" i="1" dirty="0">
                <a:solidFill>
                  <a:schemeClr val="bg1"/>
                </a:solidFill>
                <a:latin typeface="Segoe UI" panose="020B0502040204020203" pitchFamily="34" charset="0"/>
                <a:cs typeface="Segoe UI" panose="020B0502040204020203" pitchFamily="34" charset="0"/>
              </a:rPr>
              <a:t>Patient Experience Survey Analysis | June 2024</a:t>
            </a:r>
            <a:endParaRPr lang="en-US" sz="1000" b="1" dirty="0">
              <a:solidFill>
                <a:schemeClr val="bg1"/>
              </a:solidFill>
              <a:latin typeface="Segoe UI" panose="020B0502040204020203" pitchFamily="34" charset="0"/>
              <a:cs typeface="Segoe UI" panose="020B0502040204020203" pitchFamily="34" charset="0"/>
            </a:endParaRPr>
          </a:p>
        </p:txBody>
      </p:sp>
      <p:sp>
        <p:nvSpPr>
          <p:cNvPr id="4" name="Text Placeholder 3">
            <a:extLst>
              <a:ext uri="{FF2B5EF4-FFF2-40B4-BE49-F238E27FC236}">
                <a16:creationId xmlns:a16="http://schemas.microsoft.com/office/drawing/2014/main" id="{3C423F4D-34BE-771B-D1B5-6265633D1AB5}"/>
              </a:ext>
            </a:extLst>
          </p:cNvPr>
          <p:cNvSpPr>
            <a:spLocks noGrp="1"/>
          </p:cNvSpPr>
          <p:nvPr>
            <p:ph type="body" sz="half" idx="2"/>
          </p:nvPr>
        </p:nvSpPr>
        <p:spPr>
          <a:xfrm>
            <a:off x="459777" y="1831769"/>
            <a:ext cx="7318561" cy="4474028"/>
          </a:xfrm>
          <a:solidFill>
            <a:srgbClr val="1F3864"/>
          </a:solidFill>
          <a:effectLst>
            <a:outerShdw blurRad="63500" sx="102000" sy="102000" algn="ctr" rotWithShape="0">
              <a:prstClr val="black">
                <a:alpha val="40000"/>
              </a:prstClr>
            </a:outerShdw>
          </a:effectLst>
        </p:spPr>
        <p:txBody>
          <a:bodyPr>
            <a:noAutofit/>
          </a:bodyPr>
          <a:lstStyle/>
          <a:p>
            <a:pPr marL="285750" indent="-285750">
              <a:lnSpc>
                <a:spcPct val="200000"/>
              </a:lnSpc>
              <a:buFont typeface="Arial" panose="020B0604020202020204" pitchFamily="34" charset="0"/>
              <a:buChar char="•"/>
            </a:pPr>
            <a:r>
              <a:rPr lang="en-US" sz="2400" dirty="0">
                <a:solidFill>
                  <a:schemeClr val="bg1"/>
                </a:solidFill>
                <a:latin typeface="Segoe UI" panose="020B0502040204020203" pitchFamily="34" charset="0"/>
                <a:cs typeface="Segoe UI" panose="020B0502040204020203" pitchFamily="34" charset="0"/>
              </a:rPr>
              <a:t>Target 25-minute optimal wait times</a:t>
            </a:r>
          </a:p>
          <a:p>
            <a:pPr marL="285750" indent="-285750">
              <a:lnSpc>
                <a:spcPct val="200000"/>
              </a:lnSpc>
              <a:buFont typeface="Arial" panose="020B0604020202020204" pitchFamily="34" charset="0"/>
              <a:buChar char="•"/>
            </a:pPr>
            <a:r>
              <a:rPr lang="en-US" sz="2400" dirty="0">
                <a:solidFill>
                  <a:schemeClr val="bg1"/>
                </a:solidFill>
                <a:latin typeface="Segoe UI" panose="020B0502040204020203" pitchFamily="34" charset="0"/>
                <a:cs typeface="Segoe UI" panose="020B0502040204020203" pitchFamily="34" charset="0"/>
              </a:rPr>
              <a:t>Automate prescription refill processes</a:t>
            </a:r>
          </a:p>
          <a:p>
            <a:pPr marL="285750" indent="-285750">
              <a:lnSpc>
                <a:spcPct val="200000"/>
              </a:lnSpc>
              <a:buFont typeface="Arial" panose="020B0604020202020204" pitchFamily="34" charset="0"/>
              <a:buChar char="•"/>
            </a:pPr>
            <a:r>
              <a:rPr lang="en-US" sz="2400" dirty="0">
                <a:solidFill>
                  <a:schemeClr val="bg1"/>
                </a:solidFill>
                <a:latin typeface="Segoe UI" panose="020B0502040204020203" pitchFamily="34" charset="0"/>
                <a:cs typeface="Segoe UI" panose="020B0502040204020203" pitchFamily="34" charset="0"/>
              </a:rPr>
              <a:t>Expand financial assistance for uninsured patients </a:t>
            </a:r>
          </a:p>
          <a:p>
            <a:pPr marL="285750" indent="-285750">
              <a:lnSpc>
                <a:spcPct val="200000"/>
              </a:lnSpc>
              <a:buFont typeface="Arial" panose="020B0604020202020204" pitchFamily="34" charset="0"/>
              <a:buChar char="•"/>
            </a:pPr>
            <a:r>
              <a:rPr lang="en-US" sz="2400" dirty="0">
                <a:solidFill>
                  <a:schemeClr val="bg1"/>
                </a:solidFill>
                <a:latin typeface="Segoe UI" panose="020B0502040204020203" pitchFamily="34" charset="0"/>
                <a:cs typeface="Segoe UI" panose="020B0502040204020203" pitchFamily="34" charset="0"/>
              </a:rPr>
              <a:t>Improve Urgent Care patient experience</a:t>
            </a:r>
          </a:p>
          <a:p>
            <a:pPr marL="285750" indent="-285750">
              <a:lnSpc>
                <a:spcPct val="200000"/>
              </a:lnSpc>
              <a:buFont typeface="Arial" panose="020B0604020202020204" pitchFamily="34" charset="0"/>
              <a:buChar char="•"/>
            </a:pPr>
            <a:r>
              <a:rPr lang="en-US" sz="2400" dirty="0">
                <a:solidFill>
                  <a:schemeClr val="bg1"/>
                </a:solidFill>
                <a:latin typeface="Segoe UI" panose="020B0502040204020203" pitchFamily="34" charset="0"/>
                <a:cs typeface="Segoe UI" panose="020B0502040204020203" pitchFamily="34" charset="0"/>
              </a:rPr>
              <a:t>Increase provider communication training. </a:t>
            </a:r>
          </a:p>
        </p:txBody>
      </p:sp>
    </p:spTree>
    <p:extLst>
      <p:ext uri="{BB962C8B-B14F-4D97-AF65-F5344CB8AC3E}">
        <p14:creationId xmlns:p14="http://schemas.microsoft.com/office/powerpoint/2010/main" val="140913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E75B6">
            <a:alpha val="49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0EFA-EBA8-982C-135E-9F8312E26A60}"/>
              </a:ext>
            </a:extLst>
          </p:cNvPr>
          <p:cNvSpPr>
            <a:spLocks noGrp="1"/>
          </p:cNvSpPr>
          <p:nvPr>
            <p:ph type="title"/>
          </p:nvPr>
        </p:nvSpPr>
        <p:spPr>
          <a:xfrm>
            <a:off x="0" y="0"/>
            <a:ext cx="12192000" cy="989012"/>
          </a:xfrm>
          <a:solidFill>
            <a:srgbClr val="1F3864"/>
          </a:solidFill>
        </p:spPr>
        <p:txBody>
          <a:bodyPr anchor="ctr">
            <a:normAutofit/>
          </a:bodyPr>
          <a:lstStyle/>
          <a:p>
            <a:pPr algn="ctr"/>
            <a:r>
              <a:rPr lang="en-US" sz="2400" b="1" dirty="0">
                <a:solidFill>
                  <a:schemeClr val="bg1"/>
                </a:solidFill>
                <a:latin typeface="Segoe UI" panose="020B0502040204020203" pitchFamily="34" charset="0"/>
                <a:cs typeface="Segoe UI" panose="020B0502040204020203" pitchFamily="34" charset="0"/>
              </a:rPr>
              <a:t>References</a:t>
            </a:r>
          </a:p>
        </p:txBody>
      </p:sp>
      <p:sp>
        <p:nvSpPr>
          <p:cNvPr id="4" name="Text Placeholder 3">
            <a:extLst>
              <a:ext uri="{FF2B5EF4-FFF2-40B4-BE49-F238E27FC236}">
                <a16:creationId xmlns:a16="http://schemas.microsoft.com/office/drawing/2014/main" id="{EF2E8A8B-81DF-CC68-48C2-1881E23F1576}"/>
              </a:ext>
            </a:extLst>
          </p:cNvPr>
          <p:cNvSpPr>
            <a:spLocks noGrp="1"/>
          </p:cNvSpPr>
          <p:nvPr>
            <p:ph type="body" sz="half" idx="2"/>
          </p:nvPr>
        </p:nvSpPr>
        <p:spPr>
          <a:xfrm>
            <a:off x="839788" y="2057400"/>
            <a:ext cx="10833656" cy="3811588"/>
          </a:xfrm>
          <a:solidFill>
            <a:srgbClr val="1F3864"/>
          </a:solidFill>
        </p:spPr>
        <p:txBody>
          <a:bodyPr>
            <a:normAutofit fontScale="55000" lnSpcReduction="20000"/>
          </a:bodyPr>
          <a:lstStyle/>
          <a:p>
            <a:pPr>
              <a:lnSpc>
                <a:spcPct val="170000"/>
              </a:lnSpc>
            </a:pPr>
            <a:r>
              <a:rPr lang="en-US" sz="3400" dirty="0" err="1">
                <a:solidFill>
                  <a:schemeClr val="bg1"/>
                </a:solidFill>
                <a:latin typeface="Segoe UI" panose="020B0502040204020203" pitchFamily="34" charset="0"/>
                <a:cs typeface="Segoe UI" panose="020B0502040204020203" pitchFamily="34" charset="0"/>
              </a:rPr>
              <a:t>Berinato</a:t>
            </a:r>
            <a:r>
              <a:rPr lang="en-US" sz="3400" dirty="0">
                <a:solidFill>
                  <a:schemeClr val="bg1"/>
                </a:solidFill>
                <a:latin typeface="Segoe UI" panose="020B0502040204020203" pitchFamily="34" charset="0"/>
                <a:cs typeface="Segoe UI" panose="020B0502040204020203" pitchFamily="34" charset="0"/>
              </a:rPr>
              <a:t>, S. (2016). </a:t>
            </a:r>
            <a:r>
              <a:rPr lang="en-US" sz="3400" i="1" dirty="0">
                <a:solidFill>
                  <a:schemeClr val="bg1"/>
                </a:solidFill>
                <a:latin typeface="Segoe UI" panose="020B0502040204020203" pitchFamily="34" charset="0"/>
                <a:cs typeface="Segoe UI" panose="020B0502040204020203" pitchFamily="34" charset="0"/>
              </a:rPr>
              <a:t>Good Charts: The HBR Guide to Making Smarter, More Persuasive Data Visualizations</a:t>
            </a:r>
            <a:r>
              <a:rPr lang="en-US" sz="3400" dirty="0">
                <a:solidFill>
                  <a:schemeClr val="bg1"/>
                </a:solidFill>
                <a:latin typeface="Segoe UI" panose="020B0502040204020203" pitchFamily="34" charset="0"/>
                <a:cs typeface="Segoe UI" panose="020B0502040204020203" pitchFamily="34" charset="0"/>
              </a:rPr>
              <a:t>. Harvard Business Review Press.</a:t>
            </a:r>
          </a:p>
          <a:p>
            <a:pPr>
              <a:lnSpc>
                <a:spcPct val="170000"/>
              </a:lnSpc>
            </a:pPr>
            <a:r>
              <a:rPr lang="en-US" sz="3400" dirty="0">
                <a:solidFill>
                  <a:schemeClr val="bg1"/>
                </a:solidFill>
                <a:latin typeface="Segoe UI" panose="020B0502040204020203" pitchFamily="34" charset="0"/>
                <a:cs typeface="Segoe UI" panose="020B0502040204020203" pitchFamily="34" charset="0"/>
              </a:rPr>
              <a:t>Massachusetts Institute of Technology. (n.d.). </a:t>
            </a:r>
            <a:r>
              <a:rPr lang="en-US" sz="3400" i="1" dirty="0">
                <a:solidFill>
                  <a:schemeClr val="bg1"/>
                </a:solidFill>
                <a:latin typeface="Segoe UI" panose="020B0502040204020203" pitchFamily="34" charset="0"/>
                <a:cs typeface="Segoe UI" panose="020B0502040204020203" pitchFamily="34" charset="0"/>
              </a:rPr>
              <a:t>Best practices for PowerPoint presentations</a:t>
            </a:r>
            <a:r>
              <a:rPr lang="en-US" sz="3400" dirty="0">
                <a:solidFill>
                  <a:schemeClr val="bg1"/>
                </a:solidFill>
                <a:latin typeface="Segoe UI" panose="020B0502040204020203" pitchFamily="34" charset="0"/>
                <a:cs typeface="Segoe UI" panose="020B0502040204020203" pitchFamily="34" charset="0"/>
              </a:rPr>
              <a:t>. </a:t>
            </a:r>
            <a:r>
              <a:rPr lang="en-US" sz="3400" dirty="0">
                <a:solidFill>
                  <a:schemeClr val="bg1"/>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https://alum.mit.edu/best-practices-powerpoint-presentations</a:t>
            </a:r>
            <a:endParaRPr lang="en-US" sz="3400" dirty="0">
              <a:solidFill>
                <a:schemeClr val="bg1"/>
              </a:solidFill>
              <a:latin typeface="Segoe UI" panose="020B0502040204020203" pitchFamily="34" charset="0"/>
              <a:cs typeface="Segoe UI" panose="020B0502040204020203" pitchFamily="34" charset="0"/>
            </a:endParaRPr>
          </a:p>
          <a:p>
            <a:pPr>
              <a:lnSpc>
                <a:spcPct val="170000"/>
              </a:lnSpc>
            </a:pPr>
            <a:r>
              <a:rPr lang="en-US" sz="3400" dirty="0">
                <a:solidFill>
                  <a:schemeClr val="bg1"/>
                </a:solidFill>
                <a:latin typeface="Segoe UI" panose="020B0502040204020203" pitchFamily="34" charset="0"/>
                <a:cs typeface="Segoe UI" panose="020B0502040204020203" pitchFamily="34" charset="0"/>
              </a:rPr>
              <a:t>Microsoft. (2024). </a:t>
            </a:r>
            <a:r>
              <a:rPr lang="en-US" sz="3400" i="1" dirty="0">
                <a:solidFill>
                  <a:schemeClr val="bg1"/>
                </a:solidFill>
                <a:latin typeface="Segoe UI" panose="020B0502040204020203" pitchFamily="34" charset="0"/>
                <a:cs typeface="Segoe UI" panose="020B0502040204020203" pitchFamily="34" charset="0"/>
              </a:rPr>
              <a:t>Power BI documentation</a:t>
            </a:r>
            <a:r>
              <a:rPr lang="en-US" sz="3400" dirty="0">
                <a:solidFill>
                  <a:schemeClr val="bg1"/>
                </a:solidFill>
                <a:latin typeface="Segoe UI" panose="020B0502040204020203" pitchFamily="34" charset="0"/>
                <a:cs typeface="Segoe UI" panose="020B0502040204020203" pitchFamily="34" charset="0"/>
              </a:rPr>
              <a:t>. </a:t>
            </a:r>
            <a:r>
              <a:rPr lang="en-US" sz="3400" dirty="0">
                <a:solidFill>
                  <a:schemeClr val="bg1"/>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https://docs.microsoft.com/en-us/power-bi/</a:t>
            </a:r>
            <a:endParaRPr lang="en-US" sz="3400" dirty="0">
              <a:solidFill>
                <a:schemeClr val="bg1"/>
              </a:solidFill>
              <a:latin typeface="Segoe UI" panose="020B0502040204020203" pitchFamily="34" charset="0"/>
              <a:cs typeface="Segoe UI" panose="020B0502040204020203" pitchFamily="34" charset="0"/>
            </a:endParaRPr>
          </a:p>
          <a:p>
            <a:pPr>
              <a:lnSpc>
                <a:spcPct val="170000"/>
              </a:lnSpc>
            </a:pPr>
            <a:r>
              <a:rPr lang="en-US" sz="3400" i="1" dirty="0">
                <a:solidFill>
                  <a:schemeClr val="bg1"/>
                </a:solidFill>
                <a:latin typeface="Segoe UI" panose="020B0502040204020203" pitchFamily="34" charset="0"/>
                <a:cs typeface="Segoe UI" panose="020B0502040204020203" pitchFamily="34" charset="0"/>
              </a:rPr>
              <a:t>Patient experience survey data provided by University of Maryland Global Campus, Module 3 course materials.</a:t>
            </a:r>
          </a:p>
          <a:p>
            <a:endParaRPr lang="en-US" sz="24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9971185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82</TotalTime>
  <Words>1484</Words>
  <Application>Microsoft Office PowerPoint</Application>
  <PresentationFormat>Widescreen</PresentationFormat>
  <Paragraphs>48</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Calibri</vt:lpstr>
      <vt:lpstr>Calibri Light</vt:lpstr>
      <vt:lpstr>Segoe UI</vt:lpstr>
      <vt:lpstr>Segoe UI Light</vt:lpstr>
      <vt:lpstr>Segoe UI Semibold</vt:lpstr>
      <vt:lpstr>Custom Design</vt:lpstr>
      <vt:lpstr>Patient Experience Survey Analysis </vt:lpstr>
      <vt:lpstr>Bar chart</vt:lpstr>
      <vt:lpstr>Line Graph</vt:lpstr>
      <vt:lpstr>Pie Chart</vt:lpstr>
      <vt:lpstr>Scatterplot</vt:lpstr>
      <vt:lpstr>Tree Map</vt:lpstr>
      <vt:lpstr>Q &amp; A</vt:lpstr>
      <vt:lpstr>Dashboard Panel 1</vt:lpstr>
      <vt:lpstr>Dashboard Panel 2</vt:lpstr>
      <vt:lpstr>Data-Driven Recommendations Patient Experience Survey Analysis | June 2024</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Benjamyn Wilson</cp:lastModifiedBy>
  <cp:revision>5</cp:revision>
  <dcterms:created xsi:type="dcterms:W3CDTF">2016-09-04T11:54:55Z</dcterms:created>
  <dcterms:modified xsi:type="dcterms:W3CDTF">2026-04-07T18:36:38Z</dcterms:modified>
</cp:coreProperties>
</file>